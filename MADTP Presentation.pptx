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Inter"/>
      <p:bold r:id="rId16"/>
    </p:embeddedFont>
    <p:embeddedFont>
      <p:font typeface="Wingdings 3" pitchFamily="2" charset="2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3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9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98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0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9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79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935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21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32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7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18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9825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595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52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77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95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4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193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920555"/>
            <a:ext cx="5715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1899344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REVIEW PRESENTATION | WEARABLE COMPUTING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213669"/>
            <a:ext cx="9101137" cy="201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Inter"/>
              </a:rPr>
              <a:t>Smart Wearable Band for Early Prediction of Heat Stroke and Dehydration Using Multimodal Adaptive Digital Twin Prediction (MADTP)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41573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Team Members: Vishwas Kumar (23BCT0137) • Aakriti Tiwari (23BCT0168) • Ajay Tiwari (23BCT0075)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24187"/>
            <a:ext cx="3454449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909887"/>
            <a:ext cx="3454449" cy="20955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3024187"/>
            <a:ext cx="3454449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024187"/>
            <a:ext cx="38100" cy="18669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68849" y="2909887"/>
            <a:ext cx="38100" cy="2095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28099" y="3024187"/>
            <a:ext cx="38100" cy="18669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Problem Statement &amp; Industry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1917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Why traditional industrial safety monitoring fails in high-temperature environments.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328987"/>
            <a:ext cx="368385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Rigid Fixed Thresholds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671887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Conventional wearables trigger alarms only after dangerous spikes like HR &gt; 140 BPM, ignoring individual baseline differences.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1749" y="3214687"/>
            <a:ext cx="368385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Environmental Blindness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1749" y="3557587"/>
            <a:ext cx="29019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Fails to account for compounding ambient stressors like relative humidity, radiant heat loads, and cumulative work shift exposure duration.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0999" y="3328987"/>
            <a:ext cx="368385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Reactive Intervention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0999" y="3671887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Detects physiological collapse after it occurs rather than forecasting gradual health deterioration minutes in advance.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38475"/>
            <a:ext cx="2571750" cy="1838325"/>
          </a:xfrm>
          <a:prstGeom prst="roundRect">
            <a:avLst>
              <a:gd name="adj" fmla="val 621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947987"/>
            <a:ext cx="2571750" cy="2019300"/>
          </a:xfrm>
          <a:prstGeom prst="roundRect">
            <a:avLst>
              <a:gd name="adj" fmla="val 566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038475"/>
            <a:ext cx="2571750" cy="1838325"/>
          </a:xfrm>
          <a:prstGeom prst="roundRect">
            <a:avLst>
              <a:gd name="adj" fmla="val 621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038475"/>
            <a:ext cx="2571750" cy="1838325"/>
          </a:xfrm>
          <a:prstGeom prst="roundRect">
            <a:avLst>
              <a:gd name="adj" fmla="val 621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Core 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01917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Key technical milestones established for the MADTP framework.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305175"/>
            <a:ext cx="2547937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284C7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790950"/>
            <a:ext cx="267533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Personal Baselines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067175"/>
            <a:ext cx="21336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Calibrate individual normal parameters during startup to eliminate false alarms.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650" y="3214687"/>
            <a:ext cx="2547937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284C7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6650" y="3700462"/>
            <a:ext cx="267533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Digital Twinning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650" y="3976687"/>
            <a:ext cx="21336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Synchronize worker and environmental state twins to measure real-time divergence.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3305175"/>
            <a:ext cx="2547937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284C7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790950"/>
            <a:ext cx="267533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Predictive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4067175"/>
            <a:ext cx="21336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Forecast future deterioration 5 to 20 minutes ahead using optimized classifiers.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7350" y="3305175"/>
            <a:ext cx="2547937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284C7"/>
                </a:solidFill>
                <a:latin typeface="Inte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7350" y="3790950"/>
            <a:ext cx="267533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Adaptive Thresholds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7350" y="4067175"/>
            <a:ext cx="21336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Dynamically scale risk boundaries based on shift stress and exposure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90812"/>
            <a:ext cx="5334000" cy="2495550"/>
          </a:xfrm>
          <a:prstGeom prst="roundRect">
            <a:avLst>
              <a:gd name="adj" fmla="val 45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81312"/>
            <a:ext cx="5334000" cy="211455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System Architecture &amp; Hardware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917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End-to-end telemetry pipeline from edge microcontrollers to local backend servers.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05137"/>
            <a:ext cx="61757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Physical Edge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195637"/>
            <a:ext cx="56292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Backend &amp; Ingestion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386137"/>
            <a:ext cx="5881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ESP32 Microcontroller: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Core processing and Wi-Fi transmission.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90937"/>
            <a:ext cx="5881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MAX30102 Sensor: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Continuous pulse oximetry and HR via I2C.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995737"/>
            <a:ext cx="48006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DS18B20 Probe: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Waterproof thermal skin temperature monitoring.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491037"/>
            <a:ext cx="48006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MPU6050 &amp; DHT22: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6-axis IMU motion and ambient humidity/temp.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576637"/>
            <a:ext cx="56292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766E"/>
                </a:solidFill>
                <a:latin typeface="Inter"/>
              </a:rPr>
              <a:t>Non-Blocking Firmware: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Async sampling using millis() loops.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881437"/>
            <a:ext cx="56292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766E"/>
                </a:solidFill>
                <a:latin typeface="Inter"/>
              </a:rPr>
              <a:t>Flask Server (Port 5050):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Structured JSON telemetry ingestion.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186237"/>
            <a:ext cx="56292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766E"/>
                </a:solidFill>
                <a:latin typeface="Inter"/>
              </a:rPr>
              <a:t>Feature Extraction: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36 rolling features across 5 data groups.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491037"/>
            <a:ext cx="56292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766E"/>
                </a:solidFill>
                <a:latin typeface="Inter"/>
              </a:rPr>
              <a:t>Web Dashboard: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Real-time visualization and CSV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86000"/>
            <a:ext cx="10972800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00425"/>
            <a:ext cx="10972800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14850"/>
            <a:ext cx="10972800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286000"/>
            <a:ext cx="38100" cy="962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400425"/>
            <a:ext cx="38100" cy="962025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514850"/>
            <a:ext cx="38100" cy="96202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Mathematical Modeling &amp; Core Formulas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8107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Quantitative heuristics powering activity, environmental stress, and twin divergence.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476500"/>
            <a:ext cx="113157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1. Combined Activity Heuristic (A_combined)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695575"/>
            <a:ext cx="113157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Inter"/>
              </a:rPr>
              <a:t>A_combined = 0.7 * (σ_accel / 2.0) + 0.3 * (σ_gyro / 250.0)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905125"/>
            <a:ext cx="113157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Fuses standard deviations of 3-axis accelerometer and gyroscope vector magnitudes.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590925"/>
            <a:ext cx="113157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2. Environmental Heat Load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810000"/>
            <a:ext cx="113157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766E"/>
                </a:solidFill>
                <a:latin typeface="Inter"/>
              </a:rPr>
              <a:t>Heat Load = clip(0.55 * ((T_ambient - 28) / 16) + 0.45 * ((Humidity - 40) / 45), 0.0, 1.0)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019550"/>
            <a:ext cx="113157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Normalizes ambient temperature and relative humidity against physiological tolerance curves.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705350"/>
            <a:ext cx="113157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3. Twin Divergence Index (I_div)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924425"/>
            <a:ext cx="113157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11D48"/>
                </a:solidFill>
                <a:latin typeface="Inter"/>
              </a:rPr>
              <a:t>I_div = |(HR_live - μ_hr) / σ_hr| + |(SpO2_live - μ_spo2) / σ_spo2| + |(Temp_live - μ_temp) / σ_temp|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5133975"/>
            <a:ext cx="113157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Measures statistical residual drift between active telemetry and frozen personal baselines.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3687"/>
            <a:ext cx="5334000" cy="2247900"/>
          </a:xfrm>
          <a:prstGeom prst="roundRect">
            <a:avLst>
              <a:gd name="adj" fmla="val 5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52737"/>
            <a:ext cx="5334000" cy="2209800"/>
          </a:xfrm>
          <a:prstGeom prst="roundRect">
            <a:avLst>
              <a:gd name="adj" fmla="val 517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Digital Twin &amp; Divergence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917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Bridging real-world worker state with virtual environment and physiological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38487"/>
            <a:ext cx="62007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Dual Digital Twin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19487"/>
            <a:ext cx="48196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Personal Worker Twin: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Continuously tracks active heart rate, SpO2, core body temperature, exposure time, and personal deviation vectors.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19587"/>
            <a:ext cx="4819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Environment Twin: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Monitors surrounding thermal stress, ambient temperature, humidity gradients, and cumulative shift heat loads.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157537"/>
            <a:ext cx="563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Inter"/>
              </a:rPr>
              <a:t>Twin Synchronization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538537"/>
            <a:ext cx="48196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Tested across simulated shift durations from 0 to 180 minutes, validating responsive state scaling: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4119562"/>
            <a:ext cx="5638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E2E8F0"/>
                </a:solidFill>
                <a:latin typeface="Inter"/>
              </a:rPr>
              <a:t>0 min (Baseline):</a:t>
            </a:r>
            <a:r>
              <a:rPr sz="1050" b="0" i="0" u="none">
                <a:solidFill>
                  <a:srgbClr val="E2E8F0"/>
                </a:solidFill>
                <a:latin typeface="Inter"/>
              </a:rPr>
              <a:t> Worker HR 84.8 | Unified State: 0.135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4357687"/>
            <a:ext cx="5638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E2E8F0"/>
                </a:solidFill>
                <a:latin typeface="Inter"/>
              </a:rPr>
              <a:t>90 min (Elevated):</a:t>
            </a:r>
            <a:r>
              <a:rPr sz="1050" b="0" i="0" u="none">
                <a:solidFill>
                  <a:srgbClr val="E2E8F0"/>
                </a:solidFill>
                <a:latin typeface="Inter"/>
              </a:rPr>
              <a:t> Worker HR 88.8 | Unified State: 0.541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595812"/>
            <a:ext cx="5638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E2E8F0"/>
                </a:solidFill>
                <a:latin typeface="Inter"/>
              </a:rPr>
              <a:t>134 min (Peak Stress):</a:t>
            </a:r>
            <a:r>
              <a:rPr sz="1050" b="0" i="0" u="none">
                <a:solidFill>
                  <a:srgbClr val="E2E8F0"/>
                </a:solidFill>
                <a:latin typeface="Inter"/>
              </a:rPr>
              <a:t> Worker HR 97.2 | Unified State: 0.686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71812"/>
            <a:ext cx="6838950" cy="1733550"/>
          </a:xfrm>
          <a:prstGeom prst="roundRect">
            <a:avLst>
              <a:gd name="adj" fmla="val 65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53350" y="2776537"/>
            <a:ext cx="3829050" cy="2324100"/>
          </a:xfrm>
          <a:prstGeom prst="roundRect">
            <a:avLst>
              <a:gd name="adj" fmla="val 4918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53350" y="2776537"/>
            <a:ext cx="38100" cy="2324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7725" y="3309937"/>
          <a:ext cx="6362697" cy="1257300"/>
        </p:xfrm>
        <a:graphic>
          <a:graphicData uri="http://schemas.openxmlformats.org/drawingml/2006/table">
            <a:tbl>
              <a:tblPr/>
              <a:tblGrid>
                <a:gridCol w="1490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3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6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81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F1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ROC-AUC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Inter"/>
                        </a:rPr>
                        <a:t>Random Forest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93.3%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75.0%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85.7%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80.0%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0.989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XGBoost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93.3%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75.0%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85.7%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80.0%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0.966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AI Model Training &amp; Comparative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01917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Evaluating Random Forest versus XGBoost on synthetic and hardware-validated test 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0" y="3081337"/>
            <a:ext cx="4095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Inter"/>
              </a:rPr>
              <a:t>Model Selection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0" y="3395662"/>
            <a:ext cx="32766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5803D"/>
                </a:solidFill>
                <a:latin typeface="Inter"/>
              </a:rPr>
              <a:t>While both classifiers achieved identical accuracy and F1 scores, </a:t>
            </a:r>
            <a:r>
              <a:rPr sz="1125" b="1" i="0" u="none">
                <a:solidFill>
                  <a:srgbClr val="15803D"/>
                </a:solidFill>
                <a:latin typeface="Inter"/>
              </a:rPr>
              <a:t>Random Forest</a:t>
            </a:r>
            <a:r>
              <a:rPr sz="1125" b="0" i="0" u="none">
                <a:solidFill>
                  <a:srgbClr val="15803D"/>
                </a:solidFill>
                <a:latin typeface="Inter"/>
              </a:rPr>
              <a:t> was selected as the primary engine.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0" y="4152900"/>
            <a:ext cx="32766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5803D"/>
                </a:solidFill>
                <a:latin typeface="Inter"/>
              </a:rPr>
              <a:t>Selected due to its superior ROC-AUC score (0.989) and robust handling of multi-modal feature noise.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9893"/>
            <a:ext cx="5334000" cy="1957387"/>
          </a:xfrm>
          <a:prstGeom prst="roundRect">
            <a:avLst>
              <a:gd name="adj" fmla="val 58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647950"/>
            <a:ext cx="5334000" cy="2581275"/>
          </a:xfrm>
          <a:prstGeom prst="roundRect">
            <a:avLst>
              <a:gd name="adj" fmla="val 4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53200" y="3305175"/>
            <a:ext cx="4724400" cy="333375"/>
          </a:xfrm>
          <a:prstGeom prst="roundRect">
            <a:avLst>
              <a:gd name="adj" fmla="val 17142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53200" y="3733800"/>
            <a:ext cx="4724400" cy="333375"/>
          </a:xfrm>
          <a:prstGeom prst="roundRect">
            <a:avLst>
              <a:gd name="adj" fmla="val 17142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53200" y="4162425"/>
            <a:ext cx="4724400" cy="333375"/>
          </a:xfrm>
          <a:prstGeom prst="roundRect">
            <a:avLst>
              <a:gd name="adj" fmla="val 17142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53200" y="4591050"/>
            <a:ext cx="4724400" cy="333375"/>
          </a:xfrm>
          <a:prstGeom prst="roundRect">
            <a:avLst>
              <a:gd name="adj" fmla="val 17142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MADTP Adaptive Algorithm &amp; Risk Escalation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1917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Multi-factor score integration and dynamic risk category stratification.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64693"/>
            <a:ext cx="6200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Composite Score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7118"/>
            <a:ext cx="5905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Inter"/>
              </a:rPr>
              <a:t>R_MADTP = f(P, E, A, D, T, F, 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69543"/>
            <a:ext cx="48196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Synthesizes physiological state (P), environmental stress (E), activity (A), digital twin divergence (D), temporal deterioration (T), future predictive risk (F), and deterioration velocity (V).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952750"/>
            <a:ext cx="5638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Four-Tier Risk Stratification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3381375"/>
            <a:ext cx="8953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6534"/>
                </a:solidFill>
                <a:latin typeface="Inter"/>
              </a:rPr>
              <a:t>NORMAL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77525" y="3381375"/>
            <a:ext cx="7715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6534"/>
                </a:solidFill>
                <a:latin typeface="Inter"/>
              </a:rPr>
              <a:t>110 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0" y="3810000"/>
            <a:ext cx="809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854D0E"/>
                </a:solidFill>
                <a:latin typeface="Inter"/>
              </a:rPr>
              <a:t>WATCH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06100" y="3810000"/>
            <a:ext cx="742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854D0E"/>
                </a:solidFill>
                <a:latin typeface="Inter"/>
              </a:rPr>
              <a:t>35 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4238625"/>
            <a:ext cx="10763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A3412"/>
                </a:solidFill>
                <a:latin typeface="Inter"/>
              </a:rPr>
              <a:t>MODERATE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150" y="4238625"/>
            <a:ext cx="7239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A3412"/>
                </a:solidFill>
                <a:latin typeface="Inter"/>
              </a:rPr>
              <a:t>14 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0" y="4667250"/>
            <a:ext cx="6381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91B1B"/>
                </a:solidFill>
                <a:latin typeface="Inter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34675" y="4667250"/>
            <a:ext cx="714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91B1B"/>
                </a:solidFill>
                <a:latin typeface="Inter"/>
              </a:rPr>
              <a:t>21 obs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38475"/>
            <a:ext cx="5334000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009900"/>
            <a:ext cx="5334000" cy="1857375"/>
          </a:xfrm>
          <a:prstGeom prst="roundRect">
            <a:avLst>
              <a:gd name="adj" fmla="val 61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Validation Scenarios &amp; Intervention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9175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Testing system responsiveness under simulated environmental stress and recovery phases.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305175"/>
            <a:ext cx="63007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Harsh Stress &amp;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619500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Normal Baseline Score: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0.112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76675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High Heat + Humidity: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0.302 (+0.190 increase)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133850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Combined Harsh Stress: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0.262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391025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Recovery Phase: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0.027 (Successfully decreases)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276600"/>
            <a:ext cx="56769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Automated Interventions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590925"/>
            <a:ext cx="56769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Inter"/>
              </a:rPr>
              <a:t>WATCH: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Rest and Hydrate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867150"/>
            <a:ext cx="56769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Inter"/>
              </a:rPr>
              <a:t>MODERATE: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Reduce Activity and Cool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4143375"/>
            <a:ext cx="56769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Inter"/>
              </a:rPr>
              <a:t>HIGH: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Stop Exposure and Recover Immediately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4419600"/>
            <a:ext cx="56769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Inter"/>
              </a:rPr>
              <a:t>Dashboard: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Fully outputs risk CSVs and real-time visualization plots.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429916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PROJECT STATUS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06141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Inter"/>
              </a:rPr>
              <a:t>Conclusion &amp; Hardware Integration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353841"/>
            <a:ext cx="69508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Inter"/>
              </a:rPr>
              <a:t>Current Achievements (TRL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96741"/>
            <a:ext cx="53911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Successfully engineered and validated the complete software pipeline from simulation to ML classification (93.3% accuracy, 0.989 ROC-AUC), digital twin synchronization, and adaptive risk dashboards.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353841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Inter"/>
              </a:rPr>
              <a:t>Next Phase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696741"/>
            <a:ext cx="53911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Physical wearable assembly integrating ESP32 hardware with live sensor probes, field testing across industrial environments, and expansion of multi-worker clinical datasets.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940</Words>
  <Application>Microsoft Macintosh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</vt:lpstr>
      <vt:lpstr>Wingdings 3</vt:lpstr>
      <vt:lpstr>Century Gothic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Vishwas Kumar</cp:lastModifiedBy>
  <cp:revision>2</cp:revision>
  <dcterms:created xsi:type="dcterms:W3CDTF">2013-01-27T09:14:16Z</dcterms:created>
  <dcterms:modified xsi:type="dcterms:W3CDTF">2026-10-21T10:01:05Z</dcterms:modified>
  <cp:category/>
</cp:coreProperties>
</file>